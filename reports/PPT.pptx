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37"/>
    <p:restoredTop sz="94678"/>
  </p:normalViewPr>
  <p:slideViewPr>
    <p:cSldViewPr snapToGrid="0">
      <p:cViewPr>
        <p:scale>
          <a:sx n="103" d="100"/>
          <a:sy n="103" d="100"/>
        </p:scale>
        <p:origin x="-128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7A0A-530F-9AA6-3205-E4F2AB214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CBCFA-1CFF-D562-0842-449953907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1DA3-DC44-6F33-7DC1-B24384A7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52804-61BA-F35F-1F07-FCE0E353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0612F-F2BF-985A-B278-11EB8FCE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DBF-215B-CFE6-81D9-24528AB6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23FF5-7873-6C64-BB15-7B697C0C7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E2A79-259B-97D4-54AC-22DD819F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0B7F1-4D88-D8D5-EA0B-425BFBF2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2568F-EA55-927B-11E9-3B23ED10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1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9286-8D92-F418-3424-85DDF849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7F43A-9632-2420-16D2-4FB5EF3C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6E411-C511-D598-86EC-3738628A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C500-8C30-B77A-87AD-421EA873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B567C-A53A-2654-7BAF-6F1783AB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6890-224C-ACD1-4ECE-86910AA6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CF109-6E5E-B4F4-78EC-A5C5239AF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78D35-7813-6F07-C2A4-F74D2DC90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EA7F1-A6BB-E0E8-464E-6483BE67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79A8E-CC30-F048-E776-B18911F3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CD88F-1B3B-E0B4-FD8E-B276B62A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5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8404-C601-C124-24E3-D021ED57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8E993-6096-210C-67E7-C5A28176F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B2717-9819-9375-394E-8E15CAD29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A04C5-52C7-E659-DE79-162211F6E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819F8-0269-F57C-27CC-0DF27FF85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227D4-55D9-DF69-19D3-B7E6EE38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503FA-011E-D9D0-6E21-6EF586AF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D8235-9449-E0F3-E327-5EB7BFC6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ACCB-58A1-79D3-0DA6-7B060316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FA138-A098-3515-D724-C6D57A3E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F8BB8-B7B5-7C1A-775A-7699B6DD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6FDE4-8B58-4CCB-62DB-C723B6B8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4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40007-13D8-BAA5-89AC-412A6D6A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A33EF-E6BC-CB6F-853F-3CF943EF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32F52-D708-119A-6F10-756F016A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6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645E-98CE-CBCF-818E-3DEBFE96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085D-ED96-0533-975B-CA53C99C1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1D97-5A07-F491-E2A4-EBD4A66A6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C2C7F-466E-7592-234B-E3C082FA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A4398-79DD-F891-0F4D-0D151005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BD711-B9C7-B54F-8B5A-4B9B5104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1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7C61-037B-C74E-8C9B-24ECE27A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2D85E-7A2C-1FD1-E7EE-738E56981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131BD-3AE3-A918-4EF2-849DAA32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BBFD2-99FA-A829-8912-A3EFCF30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0A85C-864C-3A16-D98D-239C970F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5CAB2-3B38-89D8-6B27-EC6549B3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0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4E20-7882-A004-D9E9-0BA37F3AC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1A543-BBFD-B328-9D80-30B49842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81ED-D8EF-4224-6F5C-0B52BDE7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C0591-AD9D-899F-C862-643B6B02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BB67F-B43A-461E-B6B9-A2F687A5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0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EBDE0-7FA7-66A8-FA0A-3F84384D0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FACD3-B3A5-06C7-DE28-A6C1DCB1F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6DE3E-327C-27D7-2CCD-DC8E8ECA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B09E-DD8B-C67E-3C44-40C27D7C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78274-65B0-A6D1-E5D3-D8CD2DB7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7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ED339-AED6-84D8-D397-1CD83505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0390C-C6E6-CC3F-5C60-865AF48DE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E191-BFDF-426D-B9E9-B53F9CFB2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1071-C6C8-4548-9C69-1EB4331DE53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A26DC-CBCA-0B23-47B5-E83DFF217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4D1BF-5F32-B291-9848-F1175D5F9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46D48-7ED8-F54D-8D77-CEE1CE726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9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F1F5-55A1-CB58-DF8D-51724E3D3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Bluestock</a:t>
            </a:r>
            <a:r>
              <a:rPr lang="en-IN" dirty="0"/>
              <a:t> Mutual Fund Analytics Platform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F131D-51AD-0773-E41A-96D63A57E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5169"/>
            <a:ext cx="9144000" cy="1890467"/>
          </a:xfrm>
        </p:spPr>
        <p:txBody>
          <a:bodyPr>
            <a:normAutofit fontScale="77500" lnSpcReduction="20000"/>
          </a:bodyPr>
          <a:lstStyle/>
          <a:p>
            <a:r>
              <a:rPr lang="en-IN" sz="5100" dirty="0"/>
              <a:t>Capstone Project</a:t>
            </a:r>
          </a:p>
          <a:p>
            <a:r>
              <a:rPr lang="en-IN" b="1" dirty="0"/>
              <a:t>Submitted By:</a:t>
            </a:r>
            <a:r>
              <a:rPr lang="en-IN" dirty="0"/>
              <a:t> Krishna Vamsi Bommireddy</a:t>
            </a:r>
          </a:p>
          <a:p>
            <a:r>
              <a:rPr lang="en-IN" b="1" dirty="0"/>
              <a:t>Organization:</a:t>
            </a:r>
            <a:r>
              <a:rPr lang="en-IN" dirty="0"/>
              <a:t> </a:t>
            </a:r>
            <a:r>
              <a:rPr lang="en-IN" dirty="0" err="1"/>
              <a:t>Bluestock</a:t>
            </a:r>
            <a:r>
              <a:rPr lang="en-IN" dirty="0"/>
              <a:t> Fintech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  <a:p>
            <a:r>
              <a:rPr lang="en-IN" b="1" dirty="0"/>
              <a:t>Technologies:</a:t>
            </a:r>
            <a:r>
              <a:rPr lang="en-IN" dirty="0"/>
              <a:t> Python, SQLite, Tableau, Power BI, Pandas, NumPy</a:t>
            </a:r>
          </a:p>
          <a:p>
            <a:r>
              <a:rPr lang="en-IN" dirty="0"/>
              <a:t>📷 Add dashboard cover screenshot</a:t>
            </a:r>
          </a:p>
        </p:txBody>
      </p:sp>
    </p:spTree>
    <p:extLst>
      <p:ext uri="{BB962C8B-B14F-4D97-AF65-F5344CB8AC3E}">
        <p14:creationId xmlns:p14="http://schemas.microsoft.com/office/powerpoint/2010/main" val="149283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9B16-B066-6842-6041-76082057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4728-519D-1677-CB4F-014980DC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8169" cy="4351338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Investors face difficulties in:</a:t>
            </a:r>
          </a:p>
          <a:p>
            <a:r>
              <a:rPr lang="en-IN" dirty="0"/>
              <a:t>Comparing mutual funds </a:t>
            </a:r>
          </a:p>
          <a:p>
            <a:r>
              <a:rPr lang="en-IN" dirty="0"/>
              <a:t>Understanding risk levels </a:t>
            </a:r>
          </a:p>
          <a:p>
            <a:r>
              <a:rPr lang="en-IN" dirty="0"/>
              <a:t>Tracking performance </a:t>
            </a:r>
          </a:p>
          <a:p>
            <a:r>
              <a:rPr lang="en-IN" dirty="0"/>
              <a:t>Monitoring SIP growth </a:t>
            </a:r>
          </a:p>
          <a:p>
            <a:r>
              <a:rPr lang="en-IN" dirty="0"/>
              <a:t>Evaluating benchmarks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A8C7A8-5E12-9F55-354F-4A7850B2F541}"/>
              </a:ext>
            </a:extLst>
          </p:cNvPr>
          <p:cNvSpPr txBox="1">
            <a:spLocks/>
          </p:cNvSpPr>
          <p:nvPr/>
        </p:nvSpPr>
        <p:spPr>
          <a:xfrm>
            <a:off x="6242539" y="1825625"/>
            <a:ext cx="49881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Objectives</a:t>
            </a:r>
          </a:p>
          <a:p>
            <a:r>
              <a:rPr lang="en-IN" dirty="0"/>
              <a:t>Build ETL Pipeline </a:t>
            </a:r>
          </a:p>
          <a:p>
            <a:r>
              <a:rPr lang="en-IN" dirty="0"/>
              <a:t>Create SQL Database </a:t>
            </a:r>
          </a:p>
          <a:p>
            <a:r>
              <a:rPr lang="en-IN" dirty="0"/>
              <a:t>Perform EDA </a:t>
            </a:r>
          </a:p>
          <a:p>
            <a:r>
              <a:rPr lang="en-IN" dirty="0"/>
              <a:t>Compute Risk Metrics </a:t>
            </a:r>
          </a:p>
          <a:p>
            <a:r>
              <a:rPr lang="en-IN" dirty="0"/>
              <a:t>Build Dashboard </a:t>
            </a:r>
          </a:p>
          <a:p>
            <a:r>
              <a:rPr lang="en-IN" dirty="0" err="1"/>
              <a:t>Analyze</a:t>
            </a:r>
            <a:r>
              <a:rPr lang="en-IN" dirty="0"/>
              <a:t> Investors </a:t>
            </a:r>
          </a:p>
          <a:p>
            <a:r>
              <a:rPr lang="en-IN" dirty="0"/>
              <a:t>Benchmark Funds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2B730-ADD1-3732-EEB7-33507D63F9B2}"/>
              </a:ext>
            </a:extLst>
          </p:cNvPr>
          <p:cNvSpPr txBox="1"/>
          <p:nvPr/>
        </p:nvSpPr>
        <p:spPr>
          <a:xfrm>
            <a:off x="8147538" y="28135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B4132-1E5C-0944-9D98-9919E64E4478}"/>
              </a:ext>
            </a:extLst>
          </p:cNvPr>
          <p:cNvSpPr txBox="1"/>
          <p:nvPr/>
        </p:nvSpPr>
        <p:spPr>
          <a:xfrm>
            <a:off x="8299938" y="29659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2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AA7B-C3D4-41DC-550B-AC363B3B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B3C3B-536D-7708-4FFB-BA43335D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Datasets Used</a:t>
            </a:r>
          </a:p>
          <a:p>
            <a:r>
              <a:rPr lang="en-IN" dirty="0"/>
              <a:t>Fund Master (40 schemes) </a:t>
            </a:r>
          </a:p>
          <a:p>
            <a:r>
              <a:rPr lang="en-IN" dirty="0"/>
              <a:t>NAV History (46,000+ rows) </a:t>
            </a:r>
          </a:p>
          <a:p>
            <a:r>
              <a:rPr lang="en-IN" dirty="0"/>
              <a:t>AUM Data </a:t>
            </a:r>
          </a:p>
          <a:p>
            <a:r>
              <a:rPr lang="en-IN" dirty="0"/>
              <a:t>SIP Inflows </a:t>
            </a:r>
          </a:p>
          <a:p>
            <a:r>
              <a:rPr lang="en-IN" dirty="0"/>
              <a:t>Category Inflows </a:t>
            </a:r>
          </a:p>
          <a:p>
            <a:r>
              <a:rPr lang="en-IN" dirty="0"/>
              <a:t>Folio Count </a:t>
            </a:r>
          </a:p>
          <a:p>
            <a:r>
              <a:rPr lang="en-IN" dirty="0"/>
              <a:t>Scheme Performance </a:t>
            </a:r>
          </a:p>
          <a:p>
            <a:r>
              <a:rPr lang="en-IN" dirty="0"/>
              <a:t>Investor Transactions </a:t>
            </a:r>
          </a:p>
          <a:p>
            <a:r>
              <a:rPr lang="en-IN" dirty="0"/>
              <a:t>Portfolio Holdings </a:t>
            </a:r>
          </a:p>
          <a:p>
            <a:r>
              <a:rPr lang="en-IN" dirty="0"/>
              <a:t>Benchmark Indices </a:t>
            </a:r>
          </a:p>
          <a:p>
            <a:r>
              <a:rPr lang="en-IN" b="1" dirty="0"/>
              <a:t>Total Records</a:t>
            </a:r>
          </a:p>
          <a:p>
            <a:r>
              <a:rPr lang="en-IN" dirty="0"/>
              <a:t>46K+ NAV Records </a:t>
            </a:r>
          </a:p>
          <a:p>
            <a:r>
              <a:rPr lang="en-IN" dirty="0"/>
              <a:t>32K+ Transactions </a:t>
            </a:r>
          </a:p>
          <a:p>
            <a:r>
              <a:rPr lang="en-IN" dirty="0"/>
              <a:t>5000 Investors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8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207EC-CF37-9F94-F7CF-FF43275B3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IN" sz="5000"/>
              <a:t>System Architecture</a:t>
            </a:r>
            <a:endParaRPr lang="en-US" sz="5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FC65EC-B3D7-1DFE-9F57-CD1A6B5F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77" y="640080"/>
            <a:ext cx="3653485" cy="5577840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2820D-B216-4431-94F6-63D3F6F7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IN" sz="2200" b="1"/>
              <a:t>ETL Pipeline</a:t>
            </a:r>
          </a:p>
          <a:p>
            <a:r>
              <a:rPr lang="en-IN" sz="2200" b="1"/>
              <a:t>Tools Used</a:t>
            </a:r>
          </a:p>
          <a:p>
            <a:r>
              <a:rPr lang="en-IN" sz="2200"/>
              <a:t>Python </a:t>
            </a:r>
          </a:p>
          <a:p>
            <a:r>
              <a:rPr lang="en-IN" sz="2200"/>
              <a:t>Pandas </a:t>
            </a:r>
          </a:p>
          <a:p>
            <a:r>
              <a:rPr lang="en-IN" sz="2200"/>
              <a:t>SQLite </a:t>
            </a:r>
          </a:p>
          <a:p>
            <a:r>
              <a:rPr lang="en-IN" sz="2200"/>
              <a:t>Tableau </a:t>
            </a:r>
          </a:p>
          <a:p>
            <a:r>
              <a:rPr lang="en-IN" sz="2200"/>
              <a:t>Power BI</a:t>
            </a:r>
          </a:p>
          <a:p>
            <a:endParaRPr lang="en-IN" sz="2200" b="1"/>
          </a:p>
        </p:txBody>
      </p:sp>
    </p:spTree>
    <p:extLst>
      <p:ext uri="{BB962C8B-B14F-4D97-AF65-F5344CB8AC3E}">
        <p14:creationId xmlns:p14="http://schemas.microsoft.com/office/powerpoint/2010/main" val="406684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78D5D-2A36-030F-27AD-55462C4B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EDA Highlights (Part 1)</a:t>
            </a:r>
            <a:endParaRPr lang="en-US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C0D5-4D2E-975D-7BCD-0C00C467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N" sz="2200" b="1"/>
              <a:t>Industry Growth</a:t>
            </a:r>
          </a:p>
          <a:p>
            <a:r>
              <a:rPr lang="en-IN" sz="2200" b="1"/>
              <a:t>Findings</a:t>
            </a:r>
          </a:p>
          <a:p>
            <a:r>
              <a:rPr lang="en-IN" sz="2200"/>
              <a:t>Industry AUM crossed ₹81 Lakh Crore </a:t>
            </a:r>
          </a:p>
          <a:p>
            <a:r>
              <a:rPr lang="en-IN" sz="2200"/>
              <a:t>SIP inflows reached ₹31,002 Crore </a:t>
            </a:r>
          </a:p>
          <a:p>
            <a:r>
              <a:rPr lang="en-IN" sz="2200"/>
              <a:t>Folios increased from 13.26 Cr to 26.12 Cr</a:t>
            </a:r>
          </a:p>
          <a:p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47216-FA18-B75B-B767-0839D54D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126" y="329183"/>
            <a:ext cx="3335644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8FC31C-7622-6E5E-9EBE-C58A0BCF5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73342"/>
            <a:ext cx="3995928" cy="198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2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0D406-CAD0-5DB5-B64B-96EEB919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EDA Highlights (Part 2)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D11FB-452B-3327-7909-FA26CFF7C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N" sz="2200" b="1"/>
              <a:t>Investor Analytics</a:t>
            </a:r>
          </a:p>
          <a:p>
            <a:r>
              <a:rPr lang="en-IN" sz="2200" b="1"/>
              <a:t>Findings</a:t>
            </a:r>
          </a:p>
          <a:p>
            <a:r>
              <a:rPr lang="en-IN" sz="2200"/>
              <a:t>Age 25–35 dominates SIP participation </a:t>
            </a:r>
          </a:p>
          <a:p>
            <a:r>
              <a:rPr lang="en-IN" sz="2200"/>
              <a:t>Tier-1 cities contribute most transactions </a:t>
            </a:r>
          </a:p>
          <a:p>
            <a:r>
              <a:rPr lang="en-IN" sz="2200"/>
              <a:t>Maharashtra and Karnataka lead investment</a:t>
            </a:r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269BD-4868-87BC-2BD9-E30211ECA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988" y="329183"/>
            <a:ext cx="3309919" cy="3429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483AE-78AC-32A8-F70C-8B5170F98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769" y="4079193"/>
            <a:ext cx="361206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4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5443B-EC27-CC29-E244-3EF27B44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Performance Analytics (Part 1)</a:t>
            </a:r>
            <a:endParaRPr lang="en-US" sz="54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4AC31-18EF-E0D5-8B9E-F9243ACA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N" sz="1900" b="1"/>
              <a:t>Metrics Calculated</a:t>
            </a:r>
          </a:p>
          <a:p>
            <a:r>
              <a:rPr lang="en-IN" sz="1900"/>
              <a:t>CAGR </a:t>
            </a:r>
          </a:p>
          <a:p>
            <a:r>
              <a:rPr lang="en-IN" sz="1900"/>
              <a:t>Sharpe Ratio </a:t>
            </a:r>
          </a:p>
          <a:p>
            <a:r>
              <a:rPr lang="en-IN" sz="1900"/>
              <a:t>Sortino Ratio </a:t>
            </a:r>
          </a:p>
          <a:p>
            <a:r>
              <a:rPr lang="en-IN" sz="1900"/>
              <a:t>Alpha </a:t>
            </a:r>
          </a:p>
          <a:p>
            <a:r>
              <a:rPr lang="en-IN" sz="1900"/>
              <a:t>Beta </a:t>
            </a:r>
          </a:p>
          <a:p>
            <a:r>
              <a:rPr lang="en-IN" sz="1900"/>
              <a:t>Standard Deviation </a:t>
            </a:r>
          </a:p>
          <a:p>
            <a:r>
              <a:rPr lang="en-IN" sz="1900" b="1"/>
              <a:t>Key Finding</a:t>
            </a:r>
          </a:p>
          <a:p>
            <a:r>
              <a:rPr lang="en-IN" sz="1900"/>
              <a:t>Mid-cap funds generated superior risk-adjusted returns.</a:t>
            </a:r>
          </a:p>
          <a:p>
            <a:endParaRPr lang="en-US" sz="1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660F0-A436-EB9C-95A1-DA04DD7C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25561"/>
            <a:ext cx="4014216" cy="2037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C49F4-E310-3136-6369-835FE1922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53363"/>
            <a:ext cx="3995928" cy="202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6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644BF-505D-8131-2AC6-34B075F0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IN" sz="5000"/>
              <a:t>Performance Analytics (Part 2)</a:t>
            </a:r>
            <a:endParaRPr lang="en-US" sz="5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5D15B-CD10-DCCB-F683-4053DDC1C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48255"/>
            <a:ext cx="5458968" cy="2961489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800A-6FF4-9605-11BF-08C99EFE1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IN" sz="2000" b="1"/>
              <a:t>Risk Analysis</a:t>
            </a:r>
          </a:p>
          <a:p>
            <a:r>
              <a:rPr lang="en-IN" sz="2000" b="1"/>
              <a:t>Metrics</a:t>
            </a:r>
          </a:p>
          <a:p>
            <a:r>
              <a:rPr lang="en-IN" sz="2000"/>
              <a:t>VaR (95%) </a:t>
            </a:r>
          </a:p>
          <a:p>
            <a:r>
              <a:rPr lang="en-IN" sz="2000"/>
              <a:t>CVaR (95%) </a:t>
            </a:r>
          </a:p>
          <a:p>
            <a:r>
              <a:rPr lang="en-IN" sz="2000"/>
              <a:t>Maximum Drawdown </a:t>
            </a:r>
          </a:p>
          <a:p>
            <a:r>
              <a:rPr lang="en-IN" sz="2000"/>
              <a:t>Rolling Sharpe Ratio </a:t>
            </a:r>
          </a:p>
          <a:p>
            <a:r>
              <a:rPr lang="en-IN" sz="2000" b="1"/>
              <a:t>Key Finding</a:t>
            </a:r>
          </a:p>
          <a:p>
            <a:r>
              <a:rPr lang="en-IN" sz="2000"/>
              <a:t>High-risk funds achieved highest Sharpe ratios.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5543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BBA3B-B2FD-98EE-EC41-60B63E94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en-IN" sz="5200" b="1"/>
              <a:t>Dashboard Overview</a:t>
            </a:r>
            <a:br>
              <a:rPr lang="en-IN" sz="5200" b="1"/>
            </a:br>
            <a:endParaRPr lang="en-US" sz="5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236D8-8EDB-CCDA-3F32-A0C6DF5D4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455" y="331311"/>
            <a:ext cx="3456878" cy="28346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8FB4-0C86-8A36-8CC7-3339842D2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en-IN" sz="900" b="1"/>
              <a:t>Page 1</a:t>
            </a:r>
          </a:p>
          <a:p>
            <a:r>
              <a:rPr lang="en-IN" sz="900"/>
              <a:t>Industry Overview</a:t>
            </a:r>
          </a:p>
          <a:p>
            <a:r>
              <a:rPr lang="en-IN" sz="900"/>
              <a:t>AUM </a:t>
            </a:r>
          </a:p>
          <a:p>
            <a:r>
              <a:rPr lang="en-IN" sz="900"/>
              <a:t>SIP Inflows </a:t>
            </a:r>
          </a:p>
          <a:p>
            <a:r>
              <a:rPr lang="en-IN" sz="900"/>
              <a:t>Folios </a:t>
            </a:r>
          </a:p>
          <a:p>
            <a:r>
              <a:rPr lang="en-IN" sz="900"/>
              <a:t>AUM by AMC </a:t>
            </a:r>
          </a:p>
          <a:p>
            <a:r>
              <a:rPr lang="en-IN" sz="900" b="1"/>
              <a:t>Page 2</a:t>
            </a:r>
          </a:p>
          <a:p>
            <a:r>
              <a:rPr lang="en-IN" sz="900"/>
              <a:t>Fund Performance</a:t>
            </a:r>
          </a:p>
          <a:p>
            <a:r>
              <a:rPr lang="en-IN" sz="900"/>
              <a:t>Risk vs Return </a:t>
            </a:r>
          </a:p>
          <a:p>
            <a:r>
              <a:rPr lang="en-IN" sz="900"/>
              <a:t>Fund Scorecard </a:t>
            </a:r>
          </a:p>
          <a:p>
            <a:r>
              <a:rPr lang="en-IN" sz="900"/>
              <a:t>NAV vs Benchmark</a:t>
            </a:r>
          </a:p>
          <a:p>
            <a:endParaRPr lang="en-US"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3624F-7E80-DFC8-594D-63990A66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88" y="3343830"/>
            <a:ext cx="3896413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3E901-7C8B-CE85-0C14-02FD7940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en-IN" sz="5200"/>
              <a:t>Dashboard Overview</a:t>
            </a:r>
            <a:endParaRPr lang="en-US" sz="5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D5664-DD3A-D34B-FC83-5083EF4E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134" y="331311"/>
            <a:ext cx="3779520" cy="28346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7073-1ADC-836C-CA76-E91F43D5F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en-IN" sz="1000" b="1"/>
              <a:t>Page 3</a:t>
            </a:r>
          </a:p>
          <a:p>
            <a:r>
              <a:rPr lang="en-IN" sz="1000"/>
              <a:t>Investor Analytics</a:t>
            </a:r>
          </a:p>
          <a:p>
            <a:r>
              <a:rPr lang="en-IN" sz="1000"/>
              <a:t>State Analysis </a:t>
            </a:r>
          </a:p>
          <a:p>
            <a:r>
              <a:rPr lang="en-IN" sz="1000"/>
              <a:t>Transaction Analysis </a:t>
            </a:r>
          </a:p>
          <a:p>
            <a:r>
              <a:rPr lang="en-IN" sz="1000"/>
              <a:t>Age Group Analysis </a:t>
            </a:r>
          </a:p>
          <a:p>
            <a:r>
              <a:rPr lang="en-IN" sz="1000" b="1"/>
              <a:t>Page 4</a:t>
            </a:r>
          </a:p>
          <a:p>
            <a:r>
              <a:rPr lang="en-IN" sz="1000"/>
              <a:t>SIP &amp; Market Trends</a:t>
            </a:r>
          </a:p>
          <a:p>
            <a:r>
              <a:rPr lang="en-IN" sz="1000"/>
              <a:t>SIP vs Nifty </a:t>
            </a:r>
          </a:p>
          <a:p>
            <a:r>
              <a:rPr lang="en-IN" sz="1000"/>
              <a:t>Heatmap </a:t>
            </a:r>
          </a:p>
          <a:p>
            <a:r>
              <a:rPr lang="en-IN" sz="1000"/>
              <a:t>Category Trends</a:t>
            </a:r>
          </a:p>
          <a:p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4C5F5-8BF5-6862-7E7A-4FE7F5089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08" y="3666696"/>
            <a:ext cx="4229773" cy="218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53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CE928-69B9-E25C-6909-757FD099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Key Findings &amp; Achievements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FD697-E356-D218-3C25-84CDB754A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N" sz="900" b="1"/>
              <a:t>Key Findings</a:t>
            </a:r>
          </a:p>
          <a:p>
            <a:r>
              <a:rPr lang="en-IN" sz="900"/>
              <a:t>Industry AUM exceeded ₹81L Cr </a:t>
            </a:r>
          </a:p>
          <a:p>
            <a:r>
              <a:rPr lang="en-IN" sz="900"/>
              <a:t>SIP inflows reached ₹31,002 Cr </a:t>
            </a:r>
          </a:p>
          <a:p>
            <a:r>
              <a:rPr lang="en-IN" sz="900"/>
              <a:t>Mid-cap funds outperformed large-cap funds </a:t>
            </a:r>
          </a:p>
          <a:p>
            <a:r>
              <a:rPr lang="en-IN" sz="900"/>
              <a:t>2024 investor cohort invested the most </a:t>
            </a:r>
          </a:p>
          <a:p>
            <a:r>
              <a:rPr lang="en-IN" sz="900"/>
              <a:t>Several SIP investors identified as At-Risk </a:t>
            </a:r>
          </a:p>
          <a:p>
            <a:r>
              <a:rPr lang="en-IN" sz="900" b="1"/>
              <a:t>Deliverables Completed</a:t>
            </a:r>
          </a:p>
          <a:p>
            <a:r>
              <a:rPr lang="en-IN" sz="900"/>
              <a:t>✅ ETL Pipeline</a:t>
            </a:r>
          </a:p>
          <a:p>
            <a:r>
              <a:rPr lang="en-IN" sz="900"/>
              <a:t>✅ SQLite Database</a:t>
            </a:r>
          </a:p>
          <a:p>
            <a:r>
              <a:rPr lang="en-IN" sz="900"/>
              <a:t>✅ EDA Notebook</a:t>
            </a:r>
          </a:p>
          <a:p>
            <a:r>
              <a:rPr lang="en-IN" sz="900"/>
              <a:t>✅ Performance Analytics</a:t>
            </a:r>
          </a:p>
          <a:p>
            <a:r>
              <a:rPr lang="en-IN" sz="900"/>
              <a:t>✅ Dashboard</a:t>
            </a:r>
          </a:p>
          <a:p>
            <a:r>
              <a:rPr lang="en-IN" sz="900"/>
              <a:t>✅ Advanced Analytics</a:t>
            </a:r>
          </a:p>
          <a:p>
            <a:r>
              <a:rPr lang="en-IN" sz="900"/>
              <a:t>✅ Final Report</a:t>
            </a:r>
          </a:p>
          <a:p>
            <a:endParaRPr lang="en-US"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05DAB-D093-02E6-7830-1836CEEF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68943"/>
            <a:ext cx="4014216" cy="29504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EEE40D-4A5A-8F8E-B5D5-B47D440DC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48367"/>
            <a:ext cx="3995928" cy="203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40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1A55-9B52-7A43-F396-149DB7A6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71913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 &amp; Thank You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9520-FF19-C4DA-41A8-58DC7BFC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Conclusion</a:t>
            </a:r>
          </a:p>
          <a:p>
            <a:r>
              <a:rPr lang="en-IN" dirty="0"/>
              <a:t>The project successfully delivered an end-to-end Mutual Fund Analytics Platform covering:</a:t>
            </a:r>
          </a:p>
          <a:p>
            <a:r>
              <a:rPr lang="en-IN" dirty="0"/>
              <a:t>Data Engineering </a:t>
            </a:r>
          </a:p>
          <a:p>
            <a:r>
              <a:rPr lang="en-IN" dirty="0"/>
              <a:t>Analytics </a:t>
            </a:r>
          </a:p>
          <a:p>
            <a:r>
              <a:rPr lang="en-IN" dirty="0"/>
              <a:t>Risk Modelling </a:t>
            </a:r>
          </a:p>
          <a:p>
            <a:r>
              <a:rPr lang="en-IN" dirty="0"/>
              <a:t>Dashboarding </a:t>
            </a:r>
          </a:p>
          <a:p>
            <a:r>
              <a:rPr lang="en-IN" dirty="0"/>
              <a:t>Investor Insights </a:t>
            </a:r>
          </a:p>
          <a:p>
            <a:r>
              <a:rPr lang="en-IN" b="1" dirty="0"/>
              <a:t>Future Enhancements</a:t>
            </a:r>
          </a:p>
          <a:p>
            <a:r>
              <a:rPr lang="en-IN" dirty="0" err="1"/>
              <a:t>Streamlit</a:t>
            </a:r>
            <a:r>
              <a:rPr lang="en-IN" dirty="0"/>
              <a:t> App </a:t>
            </a:r>
          </a:p>
          <a:p>
            <a:r>
              <a:rPr lang="en-IN" dirty="0"/>
              <a:t>Live NAV API </a:t>
            </a:r>
          </a:p>
          <a:p>
            <a:r>
              <a:rPr lang="en-IN" dirty="0"/>
              <a:t>Monte Carlo Simulation </a:t>
            </a:r>
          </a:p>
          <a:p>
            <a:r>
              <a:rPr lang="en-IN" dirty="0"/>
              <a:t>Portfolio Optimization </a:t>
            </a:r>
          </a:p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241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397</Words>
  <Application>Microsoft Macintosh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Bluestock Mutual Fund Analytics Platform</vt:lpstr>
      <vt:lpstr>Problem Statement &amp; Objectives</vt:lpstr>
      <vt:lpstr>Data Sources</vt:lpstr>
      <vt:lpstr>System Architecture</vt:lpstr>
      <vt:lpstr>EDA Highlights (Part 1)</vt:lpstr>
      <vt:lpstr>EDA Highlights (Part 2)</vt:lpstr>
      <vt:lpstr>Performance Analytics (Part 1)</vt:lpstr>
      <vt:lpstr>Performance Analytics (Part 2)</vt:lpstr>
      <vt:lpstr>Dashboard Overview </vt:lpstr>
      <vt:lpstr>Dashboard Overview</vt:lpstr>
      <vt:lpstr>Key Findings &amp; Achievements</vt:lpstr>
      <vt:lpstr>Conclusion &amp;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Vamsi B</dc:creator>
  <cp:lastModifiedBy>Krishna Vamsi B</cp:lastModifiedBy>
  <cp:revision>1</cp:revision>
  <dcterms:created xsi:type="dcterms:W3CDTF">2026-06-11T16:35:31Z</dcterms:created>
  <dcterms:modified xsi:type="dcterms:W3CDTF">2026-06-11T16:50:33Z</dcterms:modified>
</cp:coreProperties>
</file>